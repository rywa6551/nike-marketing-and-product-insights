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Average"/>
      <p:regular r:id="rId15"/>
    </p:embeddedFont>
    <p:embeddedFont>
      <p:font typeface="Oswald"/>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Average-regular.fntdata"/><Relationship Id="rId14" Type="http://schemas.openxmlformats.org/officeDocument/2006/relationships/slide" Target="slides/slide9.xml"/><Relationship Id="rId17" Type="http://schemas.openxmlformats.org/officeDocument/2006/relationships/font" Target="fonts/Oswald-bold.fntdata"/><Relationship Id="rId16"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everyone, my name is Ryan, and today I’ll be presenting a topic modeling analysis of Nike product reviews from Amazon’s Clothing, Shoes, and Jewelry category. The goal is to understand what customers talk about most and translate those topics into actionable marketing insights.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68742ee9a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68742ee9a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objective of this project is threefold:</a:t>
            </a:r>
            <a:endParaRPr/>
          </a:p>
          <a:p>
            <a:pPr indent="0" lvl="0" marL="0" rtl="0" algn="l">
              <a:spcBef>
                <a:spcPts val="0"/>
              </a:spcBef>
              <a:spcAft>
                <a:spcPts val="0"/>
              </a:spcAft>
              <a:buClr>
                <a:schemeClr val="dk1"/>
              </a:buClr>
              <a:buSzPts val="1100"/>
              <a:buFont typeface="Arial"/>
              <a:buNone/>
            </a:pPr>
            <a:r>
              <a:rPr lang="en"/>
              <a:t>First, identify customer conversations specifically about Nike products.</a:t>
            </a:r>
            <a:endParaRPr/>
          </a:p>
          <a:p>
            <a:pPr indent="0" lvl="0" marL="0" rtl="0" algn="l">
              <a:spcBef>
                <a:spcPts val="0"/>
              </a:spcBef>
              <a:spcAft>
                <a:spcPts val="0"/>
              </a:spcAft>
              <a:buClr>
                <a:schemeClr val="dk1"/>
              </a:buClr>
              <a:buSzPts val="1100"/>
              <a:buFont typeface="Arial"/>
              <a:buNone/>
            </a:pPr>
            <a:r>
              <a:rPr lang="en"/>
              <a:t>Second, use unsupervised topic modeling to uncover the main themes in their reviews.</a:t>
            </a:r>
            <a:endParaRPr/>
          </a:p>
          <a:p>
            <a:pPr indent="0" lvl="0" marL="0" rtl="0" algn="l">
              <a:spcBef>
                <a:spcPts val="0"/>
              </a:spcBef>
              <a:spcAft>
                <a:spcPts val="0"/>
              </a:spcAft>
              <a:buNone/>
            </a:pPr>
            <a:r>
              <a:rPr lang="en"/>
              <a:t>And third, interpret these themes to generate insights that Nike could use for marketing, product messaging, or product development.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68742ee9a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68742ee9a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dataset contains millions of Amazon clothing and footwear reviews.</a:t>
            </a:r>
            <a:endParaRPr/>
          </a:p>
          <a:p>
            <a:pPr indent="0" lvl="0" marL="0" rtl="0" algn="l">
              <a:spcBef>
                <a:spcPts val="0"/>
              </a:spcBef>
              <a:spcAft>
                <a:spcPts val="0"/>
              </a:spcAft>
              <a:buClr>
                <a:schemeClr val="dk1"/>
              </a:buClr>
              <a:buSzPts val="1100"/>
              <a:buFont typeface="Arial"/>
              <a:buNone/>
            </a:pPr>
            <a:r>
              <a:rPr lang="en"/>
              <a:t>From this dataset, I filtered for entries that reference Nike by checking the metadata and ASINs, which resulted in a focused subset of Nike-related reviews.</a:t>
            </a:r>
            <a:endParaRPr/>
          </a:p>
          <a:p>
            <a:pPr indent="0" lvl="0" marL="0" rtl="0" algn="l">
              <a:spcBef>
                <a:spcPts val="0"/>
              </a:spcBef>
              <a:spcAft>
                <a:spcPts val="0"/>
              </a:spcAft>
              <a:buNone/>
            </a:pPr>
            <a:r>
              <a:rPr lang="en"/>
              <a:t>All analysis from this point forward is based solely on that filtered subset.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68742ee9a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68742ee9a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After cleaning and preparing the review text, I built a document-term matrix and trained an LDA topic model using four topics — a number chosen because it produced clear, interpretable themes.</a:t>
            </a:r>
            <a:endParaRPr/>
          </a:p>
          <a:p>
            <a:pPr indent="0" lvl="0" marL="0" rtl="0" algn="l">
              <a:spcBef>
                <a:spcPts val="0"/>
              </a:spcBef>
              <a:spcAft>
                <a:spcPts val="0"/>
              </a:spcAft>
              <a:buNone/>
            </a:pPr>
            <a:r>
              <a:rPr lang="en"/>
              <a:t>LDA assigns each review to a topic based on word patterns, letting us see what customers naturally discuss without any labels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68742ee9a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68742ee9a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Here are the top words for each topic.</a:t>
            </a:r>
            <a:endParaRPr/>
          </a:p>
          <a:p>
            <a:pPr indent="0" lvl="0" marL="0" rtl="0" algn="l">
              <a:spcBef>
                <a:spcPts val="0"/>
              </a:spcBef>
              <a:spcAft>
                <a:spcPts val="0"/>
              </a:spcAft>
              <a:buNone/>
            </a:pPr>
            <a:r>
              <a:rPr lang="en"/>
              <a:t>We can already see how different themes emerge — one topic is centered on fit and sizing, another on comfort and wearability, a third on style and appearance, and a fourth focused on durability &amp; build quality.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68742ee9a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68742ee9a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These word clouds help visualize which terms dominate each topic.</a:t>
            </a:r>
            <a:endParaRPr/>
          </a:p>
          <a:p>
            <a:pPr indent="0" lvl="0" marL="0" rtl="0" algn="l">
              <a:spcBef>
                <a:spcPts val="0"/>
              </a:spcBef>
              <a:spcAft>
                <a:spcPts val="0"/>
              </a:spcAft>
              <a:buClr>
                <a:schemeClr val="dk1"/>
              </a:buClr>
              <a:buSzPts val="1100"/>
              <a:buFont typeface="Arial"/>
              <a:buNone/>
            </a:pPr>
            <a:r>
              <a:rPr lang="en"/>
              <a:t>For example, sizing-related words show up heavily in Topic 0, while words like ‘great,’ ‘love,’ and ‘fit’ dominate the sizing topic.</a:t>
            </a:r>
            <a:endParaRPr/>
          </a:p>
          <a:p>
            <a:pPr indent="0" lvl="0" marL="0" rtl="0" algn="l">
              <a:spcBef>
                <a:spcPts val="0"/>
              </a:spcBef>
              <a:spcAft>
                <a:spcPts val="0"/>
              </a:spcAft>
              <a:buNone/>
            </a:pPr>
            <a:r>
              <a:rPr lang="en"/>
              <a:t>These visuals make it easy to compare how the topics differ.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68742ee9a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68742ee9a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assigning each review to a topic, I inspected several representative reviews and their corresponding ASINs to understand what the model was picking up.</a:t>
            </a:r>
            <a:br>
              <a:rPr lang="en">
                <a:solidFill>
                  <a:schemeClr val="dk1"/>
                </a:solidFill>
              </a:rPr>
            </a:br>
            <a:r>
              <a:rPr lang="en">
                <a:solidFill>
                  <a:schemeClr val="dk1"/>
                </a:solidFill>
              </a:rPr>
              <a:t> Here’s a short summary of each theme: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Topic 0: Fit &amp; Sizing</a:t>
            </a:r>
            <a:br>
              <a:rPr b="1" lang="en">
                <a:solidFill>
                  <a:schemeClr val="dk1"/>
                </a:solidFill>
              </a:rPr>
            </a:br>
            <a:r>
              <a:rPr lang="en">
                <a:solidFill>
                  <a:schemeClr val="dk1"/>
                </a:solidFill>
              </a:rPr>
              <a:t> Customers talk about cushioning, support, and how comfortable the shoes feel all day. This includes models like running and casual sneakers.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Topic 1: Comfort &amp; Wearability</a:t>
            </a:r>
            <a:br>
              <a:rPr b="1" lang="en">
                <a:solidFill>
                  <a:schemeClr val="dk1"/>
                </a:solidFill>
              </a:rPr>
            </a:br>
            <a:r>
              <a:rPr lang="en">
                <a:solidFill>
                  <a:schemeClr val="dk1"/>
                </a:solidFill>
              </a:rPr>
              <a:t> This topic captures conversations about long-term wear, material quality, or issues like soles wearing down too fast.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Topic 2: Style &amp; Appearance</a:t>
            </a:r>
            <a:br>
              <a:rPr b="1" lang="en">
                <a:solidFill>
                  <a:schemeClr val="dk1"/>
                </a:solidFill>
              </a:rPr>
            </a:br>
            <a:r>
              <a:rPr lang="en">
                <a:solidFill>
                  <a:schemeClr val="dk1"/>
                </a:solidFill>
              </a:rPr>
              <a:t> These reviews emphasize look, colorways, fashion appeal, and matching outfits.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Topic 3: Durability &amp; Build Quality</a:t>
            </a:r>
            <a:br>
              <a:rPr b="1" lang="en">
                <a:solidFill>
                  <a:schemeClr val="dk1"/>
                </a:solidFill>
              </a:rPr>
            </a:br>
            <a:r>
              <a:rPr lang="en">
                <a:solidFill>
                  <a:schemeClr val="dk1"/>
                </a:solidFill>
              </a:rPr>
              <a:t> Many reviews describe sizing inconsistencies, running small or large, and the need to size up or down. This commonly appears for athletic shoes and apparel.</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Together, these topics represent the four major types of conversations customers consistently have about Nike products.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68742ee9a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68742ee9a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Based on these themes, here are some actionable insights: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Push Comfort Messaging</a:t>
            </a:r>
            <a:br>
              <a:rPr b="1" lang="en">
                <a:solidFill>
                  <a:schemeClr val="dk1"/>
                </a:solidFill>
              </a:rPr>
            </a:br>
            <a:r>
              <a:rPr lang="en">
                <a:solidFill>
                  <a:schemeClr val="dk1"/>
                </a:solidFill>
              </a:rPr>
              <a:t> Nike can emphasize cushioning technology and all-day wear in marketing campaigns, since comfort is the strongest positive topic.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Address Durability Concerns</a:t>
            </a:r>
            <a:br>
              <a:rPr b="1" lang="en">
                <a:solidFill>
                  <a:schemeClr val="dk1"/>
                </a:solidFill>
              </a:rPr>
            </a:br>
            <a:r>
              <a:rPr lang="en">
                <a:solidFill>
                  <a:schemeClr val="dk1"/>
                </a:solidFill>
              </a:rPr>
              <a:t> Some Nike models receive repeated complaints about wear-and-tear. Highlighting durability improvements could improve sentiment.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Lean Into Style Trends</a:t>
            </a:r>
            <a:br>
              <a:rPr b="1" lang="en">
                <a:solidFill>
                  <a:schemeClr val="dk1"/>
                </a:solidFill>
              </a:rPr>
            </a:br>
            <a:r>
              <a:rPr lang="en">
                <a:solidFill>
                  <a:schemeClr val="dk1"/>
                </a:solidFill>
              </a:rPr>
              <a:t> Fashion-oriented reviews reinforce that style is a major purchase driver — strong opportunity for influencer partnerships or seasonal color drops.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4. Fix Sizing Guidance</a:t>
            </a:r>
            <a:br>
              <a:rPr b="1" lang="en">
                <a:solidFill>
                  <a:schemeClr val="dk1"/>
                </a:solidFill>
              </a:rPr>
            </a:br>
            <a:r>
              <a:rPr lang="en">
                <a:solidFill>
                  <a:schemeClr val="dk1"/>
                </a:solidFill>
              </a:rPr>
              <a:t> Nike should provide clearer fit recommendations on product pages, as sizing confusion is a major friction point.</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Overall, these findings provide a clearer understanding of what customers care about most and where Nike can focus messaging or product improvements.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68742ee9a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68742ee9a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summary, topic modeling revealed four key themes in Nike reviews — comfort, durability, style, and sizing issues. These insights can guide clearer marketing messages and targeted product improvements. Thanks for listening.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Nike Product Review Topic Modeling</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Insights from Amazon’s Clothing, Shoes &amp; Jewelry Reviews</a:t>
            </a:r>
            <a:endParaRPr/>
          </a:p>
          <a:p>
            <a:pPr indent="0" lvl="0" marL="0" rtl="0" algn="ctr">
              <a:spcBef>
                <a:spcPts val="0"/>
              </a:spcBef>
              <a:spcAft>
                <a:spcPts val="0"/>
              </a:spcAft>
              <a:buNone/>
            </a:pPr>
            <a:r>
              <a:rPr lang="en"/>
              <a:t>Ryan W</a:t>
            </a:r>
            <a:endParaRPr/>
          </a:p>
        </p:txBody>
      </p:sp>
      <p:pic>
        <p:nvPicPr>
          <p:cNvPr id="61" name="Google Shape;61;p13"/>
          <p:cNvPicPr preferRelativeResize="0"/>
          <p:nvPr/>
        </p:nvPicPr>
        <p:blipFill>
          <a:blip r:embed="rId3">
            <a:alphaModFix/>
          </a:blip>
          <a:stretch>
            <a:fillRect/>
          </a:stretch>
        </p:blipFill>
        <p:spPr>
          <a:xfrm>
            <a:off x="3405250" y="3174875"/>
            <a:ext cx="2403149" cy="24031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a:t>
            </a:r>
            <a:endParaRPr/>
          </a:p>
        </p:txBody>
      </p:sp>
      <p:sp>
        <p:nvSpPr>
          <p:cNvPr id="67" name="Google Shape;67;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Identify reviews related to Nike products from a large Amazon dataset</a:t>
            </a:r>
            <a:endParaRPr/>
          </a:p>
          <a:p>
            <a:pPr indent="-342900" lvl="0" marL="457200" rtl="0" algn="l">
              <a:spcBef>
                <a:spcPts val="0"/>
              </a:spcBef>
              <a:spcAft>
                <a:spcPts val="0"/>
              </a:spcAft>
              <a:buSzPts val="1800"/>
              <a:buChar char="●"/>
            </a:pPr>
            <a:r>
              <a:rPr lang="en"/>
              <a:t>Use topic modeling to uncover the main themes in customer reviews</a:t>
            </a:r>
            <a:endParaRPr/>
          </a:p>
          <a:p>
            <a:pPr indent="-342900" lvl="0" marL="457200" rtl="0" algn="l">
              <a:spcBef>
                <a:spcPts val="0"/>
              </a:spcBef>
              <a:spcAft>
                <a:spcPts val="0"/>
              </a:spcAft>
              <a:buSzPts val="1800"/>
              <a:buChar char="●"/>
            </a:pPr>
            <a:r>
              <a:rPr lang="en"/>
              <a:t>Interpret those themes to generate actionable marketing &amp; product insights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Overview</a:t>
            </a:r>
            <a:endParaRPr/>
          </a:p>
        </p:txBody>
      </p:sp>
      <p:sp>
        <p:nvSpPr>
          <p:cNvPr id="73" name="Google Shape;73;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Dataset Overview</a:t>
            </a:r>
            <a:endParaRPr b="1"/>
          </a:p>
          <a:p>
            <a:pPr indent="-342900" lvl="0" marL="457200" rtl="0" algn="l">
              <a:spcBef>
                <a:spcPts val="1200"/>
              </a:spcBef>
              <a:spcAft>
                <a:spcPts val="0"/>
              </a:spcAft>
              <a:buSzPts val="1800"/>
              <a:buChar char="●"/>
            </a:pPr>
            <a:r>
              <a:rPr lang="en"/>
              <a:t>Amazon Clothing/Shoes/Jewelry review dataset</a:t>
            </a:r>
            <a:endParaRPr/>
          </a:p>
          <a:p>
            <a:pPr indent="-342900" lvl="0" marL="457200" rtl="0" algn="l">
              <a:spcBef>
                <a:spcPts val="0"/>
              </a:spcBef>
              <a:spcAft>
                <a:spcPts val="0"/>
              </a:spcAft>
              <a:buSzPts val="1800"/>
              <a:buChar char="●"/>
            </a:pPr>
            <a:r>
              <a:rPr lang="en"/>
              <a:t>Extracted Nike reviews using ASIN metadata</a:t>
            </a:r>
            <a:endParaRPr/>
          </a:p>
          <a:p>
            <a:pPr indent="-342900" lvl="0" marL="457200" rtl="0" algn="l">
              <a:spcBef>
                <a:spcPts val="0"/>
              </a:spcBef>
              <a:spcAft>
                <a:spcPts val="0"/>
              </a:spcAft>
              <a:buSzPts val="1800"/>
              <a:buChar char="●"/>
            </a:pPr>
            <a:r>
              <a:rPr lang="en"/>
              <a:t>Preprocessed text:</a:t>
            </a:r>
            <a:endParaRPr/>
          </a:p>
          <a:p>
            <a:pPr indent="-317500" lvl="1" marL="914400" rtl="0" algn="l">
              <a:spcBef>
                <a:spcPts val="0"/>
              </a:spcBef>
              <a:spcAft>
                <a:spcPts val="0"/>
              </a:spcAft>
              <a:buSzPts val="1400"/>
              <a:buChar char="○"/>
            </a:pPr>
            <a:r>
              <a:rPr lang="en"/>
              <a:t>Lowercasing</a:t>
            </a:r>
            <a:endParaRPr/>
          </a:p>
          <a:p>
            <a:pPr indent="-317500" lvl="1" marL="914400" rtl="0" algn="l">
              <a:spcBef>
                <a:spcPts val="0"/>
              </a:spcBef>
              <a:spcAft>
                <a:spcPts val="0"/>
              </a:spcAft>
              <a:buSzPts val="1400"/>
              <a:buChar char="○"/>
            </a:pPr>
            <a:r>
              <a:rPr lang="en"/>
              <a:t>Tokenization</a:t>
            </a:r>
            <a:endParaRPr/>
          </a:p>
          <a:p>
            <a:pPr indent="-317500" lvl="1" marL="914400" rtl="0" algn="l">
              <a:spcBef>
                <a:spcPts val="0"/>
              </a:spcBef>
              <a:spcAft>
                <a:spcPts val="0"/>
              </a:spcAft>
              <a:buSzPts val="1400"/>
              <a:buChar char="○"/>
            </a:pPr>
            <a:r>
              <a:rPr lang="en"/>
              <a:t>Stopword removal (including domain-specific words)</a:t>
            </a:r>
            <a:endParaRPr/>
          </a:p>
          <a:p>
            <a:pPr indent="-317500" lvl="1" marL="914400" rtl="0" algn="l">
              <a:spcBef>
                <a:spcPts val="0"/>
              </a:spcBef>
              <a:spcAft>
                <a:spcPts val="0"/>
              </a:spcAft>
              <a:buSzPts val="1400"/>
              <a:buChar char="○"/>
            </a:pPr>
            <a:r>
              <a:rPr lang="en"/>
              <a:t>Lemmatization</a:t>
            </a:r>
            <a:endParaRPr/>
          </a:p>
          <a:p>
            <a:pPr indent="-342900" lvl="0" marL="457200" rtl="0" algn="l">
              <a:spcBef>
                <a:spcPts val="0"/>
              </a:spcBef>
              <a:spcAft>
                <a:spcPts val="0"/>
              </a:spcAft>
              <a:buSzPts val="1800"/>
              <a:buChar char="●"/>
            </a:pPr>
            <a:r>
              <a:rPr lang="en"/>
              <a:t>Final dataset: Nike-only reviews used for topic modeling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 Approach: LDA Topic Modeling</a:t>
            </a:r>
            <a:endParaRPr/>
          </a:p>
        </p:txBody>
      </p:sp>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Built dictionary &amp; corpus from cleaned review text</a:t>
            </a:r>
            <a:endParaRPr/>
          </a:p>
          <a:p>
            <a:pPr indent="-342900" lvl="0" marL="457200" rtl="0" algn="l">
              <a:spcBef>
                <a:spcPts val="0"/>
              </a:spcBef>
              <a:spcAft>
                <a:spcPts val="0"/>
              </a:spcAft>
              <a:buSzPts val="1800"/>
              <a:buChar char="●"/>
            </a:pPr>
            <a:r>
              <a:rPr lang="en"/>
              <a:t>Tuned number of topics — selected 4 based on coherence + interpretability</a:t>
            </a:r>
            <a:endParaRPr/>
          </a:p>
          <a:p>
            <a:pPr indent="-342900" lvl="0" marL="457200" rtl="0" algn="l">
              <a:spcBef>
                <a:spcPts val="0"/>
              </a:spcBef>
              <a:spcAft>
                <a:spcPts val="0"/>
              </a:spcAft>
              <a:buSzPts val="1800"/>
              <a:buChar char="●"/>
            </a:pPr>
            <a:r>
              <a:rPr lang="en"/>
              <a:t>Trained LDA model (Gensim)</a:t>
            </a:r>
            <a:endParaRPr/>
          </a:p>
          <a:p>
            <a:pPr indent="-342900" lvl="0" marL="457200" rtl="0" algn="l">
              <a:spcBef>
                <a:spcPts val="0"/>
              </a:spcBef>
              <a:spcAft>
                <a:spcPts val="0"/>
              </a:spcAft>
              <a:buSzPts val="1800"/>
              <a:buChar char="●"/>
            </a:pPr>
            <a:r>
              <a:rPr lang="en"/>
              <a:t>Assigned each review to its most probable topic</a:t>
            </a:r>
            <a:endParaRPr/>
          </a:p>
          <a:p>
            <a:pPr indent="-342900" lvl="0" marL="457200" rtl="0" algn="l">
              <a:spcBef>
                <a:spcPts val="0"/>
              </a:spcBef>
              <a:spcAft>
                <a:spcPts val="0"/>
              </a:spcAft>
              <a:buSzPts val="1800"/>
              <a:buChar char="●"/>
            </a:pPr>
            <a:r>
              <a:rPr lang="en"/>
              <a:t>Visualized results using pyLDAvis and word clouds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Topics Overview</a:t>
            </a:r>
            <a:endParaRPr/>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t>Top Words per Topic</a:t>
            </a:r>
            <a:endParaRPr b="1"/>
          </a:p>
          <a:p>
            <a:pPr indent="0" lvl="0" marL="0" rtl="0" algn="l">
              <a:spcBef>
                <a:spcPts val="1200"/>
              </a:spcBef>
              <a:spcAft>
                <a:spcPts val="0"/>
              </a:spcAft>
              <a:buNone/>
            </a:pPr>
            <a:r>
              <a:rPr b="1" lang="en"/>
              <a:t>Topic 0 — </a:t>
            </a:r>
            <a:r>
              <a:rPr b="1" lang="en"/>
              <a:t>Fit &amp; Sizing</a:t>
            </a:r>
            <a:endParaRPr b="1"/>
          </a:p>
          <a:p>
            <a:pPr indent="0" lvl="0" marL="0" rtl="0" algn="l">
              <a:spcBef>
                <a:spcPts val="1200"/>
              </a:spcBef>
              <a:spcAft>
                <a:spcPts val="0"/>
              </a:spcAft>
              <a:buNone/>
            </a:pPr>
            <a:r>
              <a:rPr lang="en"/>
              <a:t>great, love, fit, good, comfortable, wear, look, buy, foot, color, nice, sock, run, perfect, get</a:t>
            </a:r>
            <a:endParaRPr/>
          </a:p>
          <a:p>
            <a:pPr indent="0" lvl="0" marL="0" rtl="0" algn="l">
              <a:spcBef>
                <a:spcPts val="1200"/>
              </a:spcBef>
              <a:spcAft>
                <a:spcPts val="0"/>
              </a:spcAft>
              <a:buNone/>
            </a:pPr>
            <a:r>
              <a:rPr b="1" lang="en"/>
              <a:t>Topic 1 — </a:t>
            </a:r>
            <a:r>
              <a:rPr b="1" lang="en"/>
              <a:t>Comfort &amp; Wearability</a:t>
            </a:r>
            <a:endParaRPr b="1"/>
          </a:p>
          <a:p>
            <a:pPr indent="0" lvl="0" marL="0" rtl="0" algn="l">
              <a:spcBef>
                <a:spcPts val="1200"/>
              </a:spcBef>
              <a:spcAft>
                <a:spcPts val="0"/>
              </a:spcAft>
              <a:buNone/>
            </a:pPr>
            <a:r>
              <a:rPr lang="en"/>
              <a:t>small, shirt, large, gym, short, bag, big, workout, school, pant, hat, pink, grandson, run, soccer</a:t>
            </a:r>
            <a:endParaRPr/>
          </a:p>
          <a:p>
            <a:pPr indent="0" lvl="0" marL="0" rtl="0" algn="l">
              <a:spcBef>
                <a:spcPts val="1200"/>
              </a:spcBef>
              <a:spcAft>
                <a:spcPts val="0"/>
              </a:spcAft>
              <a:buNone/>
            </a:pPr>
            <a:r>
              <a:rPr b="1" lang="en"/>
              <a:t>Topic 2 — Style &amp; Appearance</a:t>
            </a:r>
            <a:endParaRPr b="1"/>
          </a:p>
          <a:p>
            <a:pPr indent="0" lvl="0" marL="0" rtl="0" algn="l">
              <a:spcBef>
                <a:spcPts val="1200"/>
              </a:spcBef>
              <a:spcAft>
                <a:spcPts val="0"/>
              </a:spcAft>
              <a:buNone/>
            </a:pPr>
            <a:r>
              <a:rPr lang="en"/>
              <a:t>run, sole, belt, heel, mile, leather, use, feel, pain, running, training, lace, toe, start, free</a:t>
            </a:r>
            <a:endParaRPr/>
          </a:p>
          <a:p>
            <a:pPr indent="0" lvl="0" marL="0" rtl="0" algn="l">
              <a:spcBef>
                <a:spcPts val="1200"/>
              </a:spcBef>
              <a:spcAft>
                <a:spcPts val="0"/>
              </a:spcAft>
              <a:buNone/>
            </a:pPr>
            <a:r>
              <a:rPr b="1" lang="en"/>
              <a:t>Topic 3 — </a:t>
            </a:r>
            <a:r>
              <a:rPr b="1" lang="en"/>
              <a:t>Durability &amp; Build Quality</a:t>
            </a:r>
            <a:endParaRPr b="1"/>
          </a:p>
          <a:p>
            <a:pPr indent="0" lvl="0" marL="0" rtl="0" algn="l">
              <a:spcBef>
                <a:spcPts val="1200"/>
              </a:spcBef>
              <a:spcAft>
                <a:spcPts val="1200"/>
              </a:spcAft>
              <a:buNone/>
            </a:pPr>
            <a:r>
              <a:rPr lang="en"/>
              <a:t>return, watch, time, send, pay, amazon, seller, receive, come, buy, know, get, shipping, think, fake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1" name="Google Shape;9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2" name="Google Shape;92;p18" title="Topic0WordCloud.png"/>
          <p:cNvPicPr preferRelativeResize="0"/>
          <p:nvPr/>
        </p:nvPicPr>
        <p:blipFill>
          <a:blip r:embed="rId3">
            <a:alphaModFix/>
          </a:blip>
          <a:stretch>
            <a:fillRect/>
          </a:stretch>
        </p:blipFill>
        <p:spPr>
          <a:xfrm>
            <a:off x="0" y="100556"/>
            <a:ext cx="4572001" cy="2471195"/>
          </a:xfrm>
          <a:prstGeom prst="rect">
            <a:avLst/>
          </a:prstGeom>
          <a:noFill/>
          <a:ln>
            <a:noFill/>
          </a:ln>
        </p:spPr>
      </p:pic>
      <p:pic>
        <p:nvPicPr>
          <p:cNvPr id="93" name="Google Shape;93;p18" title="Topic1WordCloud.png"/>
          <p:cNvPicPr preferRelativeResize="0"/>
          <p:nvPr/>
        </p:nvPicPr>
        <p:blipFill>
          <a:blip r:embed="rId4">
            <a:alphaModFix/>
          </a:blip>
          <a:stretch>
            <a:fillRect/>
          </a:stretch>
        </p:blipFill>
        <p:spPr>
          <a:xfrm>
            <a:off x="4571991" y="100545"/>
            <a:ext cx="4572008" cy="2471200"/>
          </a:xfrm>
          <a:prstGeom prst="rect">
            <a:avLst/>
          </a:prstGeom>
          <a:noFill/>
          <a:ln>
            <a:noFill/>
          </a:ln>
        </p:spPr>
      </p:pic>
      <p:pic>
        <p:nvPicPr>
          <p:cNvPr id="94" name="Google Shape;94;p18" title="Topic2WordCloud.png"/>
          <p:cNvPicPr preferRelativeResize="0"/>
          <p:nvPr/>
        </p:nvPicPr>
        <p:blipFill>
          <a:blip r:embed="rId5">
            <a:alphaModFix/>
          </a:blip>
          <a:stretch>
            <a:fillRect/>
          </a:stretch>
        </p:blipFill>
        <p:spPr>
          <a:xfrm>
            <a:off x="-12" y="2571750"/>
            <a:ext cx="4572020" cy="2471200"/>
          </a:xfrm>
          <a:prstGeom prst="rect">
            <a:avLst/>
          </a:prstGeom>
          <a:noFill/>
          <a:ln>
            <a:noFill/>
          </a:ln>
        </p:spPr>
      </p:pic>
      <p:pic>
        <p:nvPicPr>
          <p:cNvPr id="95" name="Google Shape;95;p18" title="Topic3WordCloud.png"/>
          <p:cNvPicPr preferRelativeResize="0"/>
          <p:nvPr/>
        </p:nvPicPr>
        <p:blipFill>
          <a:blip r:embed="rId6">
            <a:alphaModFix/>
          </a:blip>
          <a:stretch>
            <a:fillRect/>
          </a:stretch>
        </p:blipFill>
        <p:spPr>
          <a:xfrm>
            <a:off x="4571991" y="2571745"/>
            <a:ext cx="4572008" cy="2471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Topic Insights (Cluster Summaries &amp; ASIN Examples)</a:t>
            </a:r>
            <a:endParaRPr/>
          </a:p>
        </p:txBody>
      </p:sp>
      <p:sp>
        <p:nvSpPr>
          <p:cNvPr id="101" name="Google Shape;10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b="1" lang="en"/>
              <a:t>Topic 0 — </a:t>
            </a:r>
            <a:r>
              <a:rPr b="1" lang="en"/>
              <a:t>Fit &amp; Sizing</a:t>
            </a:r>
            <a:endParaRPr b="1"/>
          </a:p>
          <a:p>
            <a:pPr indent="-300037" lvl="0" marL="457200" rtl="0" algn="l">
              <a:spcBef>
                <a:spcPts val="1200"/>
              </a:spcBef>
              <a:spcAft>
                <a:spcPts val="0"/>
              </a:spcAft>
              <a:buSzPct val="100000"/>
              <a:buChar char="●"/>
            </a:pPr>
            <a:r>
              <a:rPr lang="en"/>
              <a:t>Reviews highlight cushioning, support, and all-day comfort.</a:t>
            </a:r>
            <a:endParaRPr/>
          </a:p>
          <a:p>
            <a:pPr indent="-300037" lvl="0" marL="457200" rtl="0" algn="l">
              <a:spcBef>
                <a:spcPts val="0"/>
              </a:spcBef>
              <a:spcAft>
                <a:spcPts val="0"/>
              </a:spcAft>
              <a:buSzPct val="100000"/>
              <a:buChar char="●"/>
            </a:pPr>
            <a:r>
              <a:rPr lang="en"/>
              <a:t>Common ASINs: running shoes, casual sneakers</a:t>
            </a:r>
            <a:endParaRPr/>
          </a:p>
          <a:p>
            <a:pPr indent="0" lvl="0" marL="0" rtl="0" algn="l">
              <a:spcBef>
                <a:spcPts val="1200"/>
              </a:spcBef>
              <a:spcAft>
                <a:spcPts val="0"/>
              </a:spcAft>
              <a:buNone/>
            </a:pPr>
            <a:r>
              <a:rPr b="1" lang="en"/>
              <a:t>Topic 1 — </a:t>
            </a:r>
            <a:r>
              <a:rPr b="1" lang="en"/>
              <a:t>Comfort &amp; Wearability</a:t>
            </a:r>
            <a:endParaRPr b="1"/>
          </a:p>
          <a:p>
            <a:pPr indent="-300037" lvl="0" marL="457200" rtl="0" algn="l">
              <a:spcBef>
                <a:spcPts val="1200"/>
              </a:spcBef>
              <a:spcAft>
                <a:spcPts val="0"/>
              </a:spcAft>
              <a:buSzPct val="100000"/>
              <a:buChar char="●"/>
            </a:pPr>
            <a:r>
              <a:rPr lang="en"/>
              <a:t>Discussions focus on material life, sole wear, and long-term durability.</a:t>
            </a:r>
            <a:endParaRPr/>
          </a:p>
          <a:p>
            <a:pPr indent="-300037" lvl="0" marL="457200" rtl="0" algn="l">
              <a:spcBef>
                <a:spcPts val="0"/>
              </a:spcBef>
              <a:spcAft>
                <a:spcPts val="0"/>
              </a:spcAft>
              <a:buSzPct val="100000"/>
              <a:buChar char="●"/>
            </a:pPr>
            <a:r>
              <a:rPr lang="en"/>
              <a:t>Common ASINs: older running models, budget-tier shoes</a:t>
            </a:r>
            <a:endParaRPr/>
          </a:p>
          <a:p>
            <a:pPr indent="0" lvl="0" marL="0" rtl="0" algn="l">
              <a:spcBef>
                <a:spcPts val="1200"/>
              </a:spcBef>
              <a:spcAft>
                <a:spcPts val="0"/>
              </a:spcAft>
              <a:buNone/>
            </a:pPr>
            <a:r>
              <a:rPr b="1" lang="en"/>
              <a:t>Topic 2 — Style &amp; Appearance</a:t>
            </a:r>
            <a:endParaRPr b="1"/>
          </a:p>
          <a:p>
            <a:pPr indent="-300037" lvl="0" marL="457200" rtl="0" algn="l">
              <a:spcBef>
                <a:spcPts val="1200"/>
              </a:spcBef>
              <a:spcAft>
                <a:spcPts val="0"/>
              </a:spcAft>
              <a:buSzPct val="100000"/>
              <a:buChar char="●"/>
            </a:pPr>
            <a:r>
              <a:rPr lang="en"/>
              <a:t>Customers comment on look, colorways, and outfit matching.</a:t>
            </a:r>
            <a:endParaRPr/>
          </a:p>
          <a:p>
            <a:pPr indent="-300037" lvl="0" marL="457200" rtl="0" algn="l">
              <a:spcBef>
                <a:spcPts val="0"/>
              </a:spcBef>
              <a:spcAft>
                <a:spcPts val="0"/>
              </a:spcAft>
              <a:buSzPct val="100000"/>
              <a:buChar char="●"/>
            </a:pPr>
            <a:r>
              <a:rPr lang="en"/>
              <a:t>Common ASINs: fashion sneakers, lifestyle lines</a:t>
            </a:r>
            <a:endParaRPr/>
          </a:p>
          <a:p>
            <a:pPr indent="0" lvl="0" marL="0" rtl="0" algn="l">
              <a:spcBef>
                <a:spcPts val="1200"/>
              </a:spcBef>
              <a:spcAft>
                <a:spcPts val="0"/>
              </a:spcAft>
              <a:buNone/>
            </a:pPr>
            <a:r>
              <a:rPr b="1" lang="en"/>
              <a:t>Topic 3 — </a:t>
            </a:r>
            <a:r>
              <a:rPr b="1" lang="en"/>
              <a:t>Durability &amp; Build Quality</a:t>
            </a:r>
            <a:endParaRPr b="1"/>
          </a:p>
          <a:p>
            <a:pPr indent="-300037" lvl="0" marL="457200" rtl="0" algn="l">
              <a:spcBef>
                <a:spcPts val="1200"/>
              </a:spcBef>
              <a:spcAft>
                <a:spcPts val="0"/>
              </a:spcAft>
              <a:buSzPct val="100000"/>
              <a:buChar char="●"/>
            </a:pPr>
            <a:r>
              <a:rPr lang="en"/>
              <a:t>Many mention inconsistent sizing and returns.</a:t>
            </a:r>
            <a:endParaRPr/>
          </a:p>
          <a:p>
            <a:pPr indent="-300037" lvl="0" marL="457200" rtl="0" algn="l">
              <a:spcBef>
                <a:spcPts val="0"/>
              </a:spcBef>
              <a:spcAft>
                <a:spcPts val="0"/>
              </a:spcAft>
              <a:buSzPct val="100000"/>
              <a:buChar char="●"/>
            </a:pPr>
            <a:r>
              <a:rPr lang="en"/>
              <a:t>Common ASINs: athletic shoes, apparel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Marketing &amp; Product Recommendations</a:t>
            </a:r>
            <a:endParaRPr/>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Highlight comfort features</a:t>
            </a:r>
            <a:r>
              <a:rPr lang="en"/>
              <a:t> — top positive theme</a:t>
            </a:r>
            <a:endParaRPr/>
          </a:p>
          <a:p>
            <a:pPr indent="-342900" lvl="0" marL="457200" rtl="0" algn="l">
              <a:spcBef>
                <a:spcPts val="0"/>
              </a:spcBef>
              <a:spcAft>
                <a:spcPts val="0"/>
              </a:spcAft>
              <a:buSzPts val="1800"/>
              <a:buChar char="●"/>
            </a:pPr>
            <a:r>
              <a:rPr b="1" lang="en"/>
              <a:t>Address durability complaints</a:t>
            </a:r>
            <a:r>
              <a:rPr lang="en"/>
              <a:t> — opportunity for product improvement</a:t>
            </a:r>
            <a:endParaRPr/>
          </a:p>
          <a:p>
            <a:pPr indent="-342900" lvl="0" marL="457200" rtl="0" algn="l">
              <a:spcBef>
                <a:spcPts val="0"/>
              </a:spcBef>
              <a:spcAft>
                <a:spcPts val="0"/>
              </a:spcAft>
              <a:buSzPts val="1800"/>
              <a:buChar char="●"/>
            </a:pPr>
            <a:r>
              <a:rPr b="1" lang="en"/>
              <a:t>Leverage fashion appeal</a:t>
            </a:r>
            <a:r>
              <a:rPr lang="en"/>
              <a:t> — strong potential for style-focused campaigns</a:t>
            </a:r>
            <a:endParaRPr/>
          </a:p>
          <a:p>
            <a:pPr indent="-342900" lvl="0" marL="457200" rtl="0" algn="l">
              <a:spcBef>
                <a:spcPts val="0"/>
              </a:spcBef>
              <a:spcAft>
                <a:spcPts val="0"/>
              </a:spcAft>
              <a:buSzPts val="1800"/>
              <a:buChar char="●"/>
            </a:pPr>
            <a:r>
              <a:rPr b="1" lang="en"/>
              <a:t>Improve sizing guidance</a:t>
            </a:r>
            <a:r>
              <a:rPr lang="en"/>
              <a:t> — reduce returns &amp; customer frustration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Thanks for Listening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